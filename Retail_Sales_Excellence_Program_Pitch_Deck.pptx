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6.6666666666666666E-2"/>
          <c:w val="0.92894056847545214"/>
          <c:h val="0.797657042869641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(USD Bn)</c:v>
                </c:pt>
              </c:strCache>
            </c:strRef>
          </c:tx>
          <c:spPr>
            <a:solidFill>
              <a:srgbClr val="6E89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E89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23-6D41-BA1C-B5A19B6C3097}"/>
              </c:ext>
            </c:extLst>
          </c:dPt>
          <c:dPt>
            <c:idx val="1"/>
            <c:invertIfNegative val="0"/>
            <c:bubble3D val="0"/>
            <c:spPr>
              <a:solidFill>
                <a:srgbClr val="3E55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23-6D41-BA1C-B5A19B6C30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2033E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23-6D41-BA1C-B5A19B6C30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Organized Share (%)</c:v>
                </c:pt>
              </c:strCache>
            </c:strRef>
          </c:tx>
          <c:spPr>
            <a:solidFill>
              <a:srgbClr val="6E89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E89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50-0E45-A09C-3647685E9CFE}"/>
              </c:ext>
            </c:extLst>
          </c:dPt>
          <c:dPt>
            <c:idx val="1"/>
            <c:invertIfNegative val="0"/>
            <c:bubble3D val="0"/>
            <c:spPr>
              <a:solidFill>
                <a:srgbClr val="C6A1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50-0E45-A09C-3647685E9C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2029E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50-0E45-A09C-3647685E9C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55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E1-F14B-884E-9F72C19E2A3B}"/>
              </c:ext>
            </c:extLst>
          </c:dPt>
          <c:dPt>
            <c:idx val="1"/>
            <c:bubble3D val="0"/>
            <c:spPr>
              <a:solidFill>
                <a:srgbClr val="C6A1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E1-F14B-884E-9F72C19E2A3B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E1-F14B-884E-9F72C19E2A3B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E1-F14B-884E-9F72C19E2A3B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Technical Mastery (4Cs &amp; Certification)</c:v>
                </c:pt>
                <c:pt idx="1">
                  <c:v>Sales &amp; Role-Play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E1-F14B-884E-9F72C19E2A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2E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8FA3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FA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52-9440-B94D-8F334CD8AF2E}"/>
              </c:ext>
            </c:extLst>
          </c:dPt>
          <c:dPt>
            <c:idx val="1"/>
            <c:invertIfNegative val="0"/>
            <c:bubble3D val="0"/>
            <c:spPr>
              <a:solidFill>
                <a:srgbClr val="C6A1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52-9440-B94D-8F334CD8AF2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Rollout</c:v>
                </c:pt>
                <c:pt idx="1">
                  <c:v>After Rollout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52-9440-B94D-8F334CD8AF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4E9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3E555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E555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 Lakh)</c:v>
                </c:pt>
              </c:strCache>
            </c:strRef>
          </c:tx>
          <c:spPr>
            <a:solidFill>
              <a:srgbClr val="A9BCC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96-494D-BE9F-9B2AA70FB1D4}"/>
              </c:ext>
            </c:extLst>
          </c:dPt>
          <c:dPt>
            <c:idx val="1"/>
            <c:invertIfNegative val="0"/>
            <c:bubble3D val="0"/>
            <c:spPr>
              <a:solidFill>
                <a:srgbClr val="6E89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96-494D-BE9F-9B2AA70FB1D4}"/>
              </c:ext>
            </c:extLst>
          </c:dPt>
          <c:dPt>
            <c:idx val="2"/>
            <c:invertIfNegative val="0"/>
            <c:bubble3D val="0"/>
            <c:spPr>
              <a:solidFill>
                <a:srgbClr val="C6A1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96-494D-BE9F-9B2AA70FB1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+4-8pt Conversion</c:v>
                </c:pt>
                <c:pt idx="2">
                  <c:v>+ ATV Upsell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212</c:v>
                </c:pt>
                <c:pt idx="2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696-494D-BE9F-9B2AA70FB1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52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99"/>
            <a:ext cx="12188952" cy="1737360"/>
          </a:xfrm>
          <a:prstGeom prst="rect">
            <a:avLst/>
          </a:prstGeom>
          <a:solidFill>
            <a:srgbClr val="3E55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37360"/>
            <a:ext cx="12188952" cy="109728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384048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PROGRAM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Store Teams Into Revenue Engines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training, coaching &amp; measurement system — built for fine jewelry retail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3520440" cy="1051560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₹95Bn→₹154Bn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jewelry market, 2025→2033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4114800"/>
            <a:ext cx="3520440" cy="1051560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34840" y="4663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frontline staff formally trained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0" y="4114800"/>
            <a:ext cx="3520440" cy="1051560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+11.5%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138160" y="4663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ROI in our own case study</a:t>
            </a:r>
            <a:endParaRPr lang="en-US" sz="1050" dirty="0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C49954C3-7709-3344-7AD0-93A66817490E}"/>
              </a:ext>
            </a:extLst>
          </p:cNvPr>
          <p:cNvSpPr/>
          <p:nvPr/>
        </p:nvSpPr>
        <p:spPr>
          <a:xfrm>
            <a:off x="548640" y="434414"/>
            <a:ext cx="924162" cy="859388"/>
          </a:xfrm>
          <a:custGeom>
            <a:avLst/>
            <a:gdLst/>
            <a:ahLst/>
            <a:cxnLst/>
            <a:rect l="l" t="t" r="r" b="b"/>
            <a:pathLst>
              <a:path w="3250012" h="1393458">
                <a:moveTo>
                  <a:pt x="0" y="0"/>
                </a:moveTo>
                <a:lnTo>
                  <a:pt x="3250012" y="0"/>
                </a:lnTo>
                <a:lnTo>
                  <a:pt x="3250012" y="1393458"/>
                </a:lnTo>
                <a:lnTo>
                  <a:pt x="0" y="1393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" r="-116932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: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FLOORS ARE LOSING REVENUE TO INCONSISTENCY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High-value, low-frequency purchases live or die on the confidence of the person across the counter.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20440" cy="365760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612493"/>
            <a:ext cx="526694" cy="526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68680" y="4160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CEILING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5445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strong stores plateau at 20-30% conversion in high-traffic categories without structured coaching.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240280"/>
            <a:ext cx="3520440" cy="365760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333" y="2662733"/>
            <a:ext cx="526694" cy="5266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709160" y="4160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EXIT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09160" y="45445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departing sales associate costs ~150% of salary to replace — and takes product knowledge with them.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2240280"/>
            <a:ext cx="3520440" cy="365760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49640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053" y="2622541"/>
            <a:ext cx="526694" cy="5266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3520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8549640" y="4160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TRAINED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549640" y="454456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10% of the gems &amp; jewelry workforce has formal training — most learn purely on the job (GJEPC).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EXCELLENCE PROGRAM</a:t>
            </a:r>
            <a:endParaRPr lang="en-US" sz="900" dirty="0"/>
          </a:p>
        </p:txBody>
      </p:sp>
      <p:sp>
        <p:nvSpPr>
          <p:cNvPr id="25" name="Freeform 62">
            <a:extLst>
              <a:ext uri="{FF2B5EF4-FFF2-40B4-BE49-F238E27FC236}">
                <a16:creationId xmlns:a16="http://schemas.microsoft.com/office/drawing/2014/main" id="{60117F3D-95D0-5A67-42FD-ED5AF295AAE9}"/>
              </a:ext>
            </a:extLst>
          </p:cNvPr>
          <p:cNvSpPr/>
          <p:nvPr/>
        </p:nvSpPr>
        <p:spPr>
          <a:xfrm>
            <a:off x="9717541" y="257062"/>
            <a:ext cx="2032499" cy="871444"/>
          </a:xfrm>
          <a:custGeom>
            <a:avLst/>
            <a:gdLst/>
            <a:ahLst/>
            <a:cxnLst/>
            <a:rect l="l" t="t" r="r" b="b"/>
            <a:pathLst>
              <a:path w="2032499" h="871444">
                <a:moveTo>
                  <a:pt x="0" y="0"/>
                </a:moveTo>
                <a:lnTo>
                  <a:pt x="2032499" y="0"/>
                </a:lnTo>
                <a:lnTo>
                  <a:pt x="2032499" y="871444"/>
                </a:lnTo>
                <a:lnTo>
                  <a:pt x="0" y="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: 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JEWELRY RETAIL BOOM — OUTPACING ITS TRAINED TALENT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scaling faster than the workforce that sells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2227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JEWELRY MARKET SIZE (USD BN)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900700317"/>
              </p:ext>
            </p:extLst>
          </p:nvPr>
        </p:nvGraphicFramePr>
        <p:xfrm>
          <a:off x="548640" y="214884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302013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RETAIL SHARE OF MARKET (%)</a:t>
            </a:r>
            <a:endParaRPr lang="en-US" sz="10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09160" y="214884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8915400" y="1874520"/>
            <a:ext cx="2724912" cy="2560320"/>
          </a:xfrm>
          <a:prstGeom prst="rect">
            <a:avLst/>
          </a:prstGeom>
          <a:solidFill>
            <a:srgbClr val="3E555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0" y="2084832"/>
            <a:ext cx="548640" cy="54864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0" y="2161642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2724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90982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TRAINED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9098280" y="35478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the workforce is semi-skilled, trained purely on the job.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store, counter, and category launch is adding sales headcount faster than the industry can train it — the gap compounds every quarter the program is delayed.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Sources: IMARC Group, Grand View Research (India jewelry market sizing); GJEPC workforce skilling data.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EXCELLENCE PROGRAM</a:t>
            </a:r>
            <a:endParaRPr lang="en-US" sz="900" dirty="0"/>
          </a:p>
        </p:txBody>
      </p:sp>
      <p:sp>
        <p:nvSpPr>
          <p:cNvPr id="19" name="Freeform 62">
            <a:extLst>
              <a:ext uri="{FF2B5EF4-FFF2-40B4-BE49-F238E27FC236}">
                <a16:creationId xmlns:a16="http://schemas.microsoft.com/office/drawing/2014/main" id="{BAD18C01-C074-B1DC-7A27-B3F7DE965E16}"/>
              </a:ext>
            </a:extLst>
          </p:cNvPr>
          <p:cNvSpPr/>
          <p:nvPr/>
        </p:nvSpPr>
        <p:spPr>
          <a:xfrm>
            <a:off x="9717541" y="257062"/>
            <a:ext cx="2032499" cy="871444"/>
          </a:xfrm>
          <a:custGeom>
            <a:avLst/>
            <a:gdLst/>
            <a:ahLst/>
            <a:cxnLst/>
            <a:rect l="l" t="t" r="r" b="b"/>
            <a:pathLst>
              <a:path w="2032499" h="871444">
                <a:moveTo>
                  <a:pt x="0" y="0"/>
                </a:moveTo>
                <a:lnTo>
                  <a:pt x="2032499" y="0"/>
                </a:lnTo>
                <a:lnTo>
                  <a:pt x="2032499" y="871444"/>
                </a:lnTo>
                <a:lnTo>
                  <a:pt x="0" y="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: THE PROGRAM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RETAIL SALES EXCELLENCE PROGRAM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floor-first coaching system that turns every store associate into a confident, consistent seller — from first greeting to closed sale.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5212080" cy="2697480"/>
          </a:xfrm>
          <a:prstGeom prst="rect">
            <a:avLst/>
          </a:prstGeom>
          <a:solidFill>
            <a:srgbClr val="3E555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822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staff training &amp; coaching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032504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skills, technical product mastery (earth-mined &amp; lab-grown diamonds, IGI certification), and on-floor coaching — delivered by category experts, reinforced weekly by store managers.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EXCELLENCE PROGRAM</a:t>
            </a:r>
            <a:endParaRPr lang="en-US" sz="900" dirty="0"/>
          </a:p>
        </p:txBody>
      </p:sp>
      <p:sp>
        <p:nvSpPr>
          <p:cNvPr id="23" name="Freeform 62">
            <a:extLst>
              <a:ext uri="{FF2B5EF4-FFF2-40B4-BE49-F238E27FC236}">
                <a16:creationId xmlns:a16="http://schemas.microsoft.com/office/drawing/2014/main" id="{DD08B554-4FE9-6AB6-5AB7-CF666B2078F1}"/>
              </a:ext>
            </a:extLst>
          </p:cNvPr>
          <p:cNvSpPr/>
          <p:nvPr/>
        </p:nvSpPr>
        <p:spPr>
          <a:xfrm>
            <a:off x="9717541" y="257062"/>
            <a:ext cx="2032499" cy="871444"/>
          </a:xfrm>
          <a:custGeom>
            <a:avLst/>
            <a:gdLst/>
            <a:ahLst/>
            <a:cxnLst/>
            <a:rect l="l" t="t" r="r" b="b"/>
            <a:pathLst>
              <a:path w="2032499" h="871444">
                <a:moveTo>
                  <a:pt x="0" y="0"/>
                </a:moveTo>
                <a:lnTo>
                  <a:pt x="2032499" y="0"/>
                </a:lnTo>
                <a:lnTo>
                  <a:pt x="2032499" y="871444"/>
                </a:lnTo>
                <a:lnTo>
                  <a:pt x="0" y="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: THE PROGRAM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three-phase cycle, repeated every quarter to keep skills sharp as ranges and trends evolve.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3703320"/>
          </a:xfrm>
          <a:prstGeom prst="rect">
            <a:avLst/>
          </a:prstGeom>
          <a:solidFill>
            <a:srgbClr val="3E555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042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A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063240" y="2359152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851" y="2448763"/>
            <a:ext cx="460858" cy="4608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3520440"/>
            <a:ext cx="2971800" cy="320040"/>
          </a:xfrm>
          <a:prstGeom prst="rect">
            <a:avLst/>
          </a:prstGeom>
          <a:solidFill>
            <a:srgbClr val="2E4142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conduct a Pre-Training Test to check the gap in technical knowledge of the Sales Associate.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87368" y="37261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389120" y="2103120"/>
            <a:ext cx="3520440" cy="3703320"/>
          </a:xfrm>
          <a:prstGeom prst="rect">
            <a:avLst/>
          </a:prstGeom>
          <a:solidFill>
            <a:srgbClr val="3E555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23042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A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6903720" y="2359152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331" y="2448763"/>
            <a:ext cx="460858" cy="46085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6344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663440" y="3520440"/>
            <a:ext cx="2971800" cy="320040"/>
          </a:xfrm>
          <a:prstGeom prst="rect">
            <a:avLst/>
          </a:prstGeom>
          <a:solidFill>
            <a:srgbClr val="2E4142"/>
          </a:solidFill>
          <a:ln/>
        </p:spPr>
      </p:sp>
      <p:sp>
        <p:nvSpPr>
          <p:cNvPr id="21" name="Text 17"/>
          <p:cNvSpPr/>
          <p:nvPr/>
        </p:nvSpPr>
        <p:spPr>
          <a:xfrm>
            <a:off x="4663440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· MAX 30 / BATCH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663440" y="40233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skills + IGI certification, technical knowledge of earth-mined &amp; lab-grown diamonds, jewelry settings.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927848" y="37261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229600" y="2103120"/>
            <a:ext cx="3520440" cy="3703320"/>
          </a:xfrm>
          <a:prstGeom prst="rect">
            <a:avLst/>
          </a:prstGeom>
          <a:solidFill>
            <a:srgbClr val="3E555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503920" y="23042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A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10744200" y="2359152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3811" y="2448763"/>
            <a:ext cx="460858" cy="46085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50392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8503920" y="3520440"/>
            <a:ext cx="2971800" cy="320040"/>
          </a:xfrm>
          <a:prstGeom prst="rect">
            <a:avLst/>
          </a:prstGeom>
          <a:solidFill>
            <a:srgbClr val="2E4142"/>
          </a:solidFill>
          <a:ln/>
        </p:spPr>
      </p:sp>
      <p:sp>
        <p:nvSpPr>
          <p:cNvPr id="30" name="Text 25"/>
          <p:cNvSpPr/>
          <p:nvPr/>
        </p:nvSpPr>
        <p:spPr>
          <a:xfrm>
            <a:off x="8503920" y="3520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503920" y="40233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Post-training, we conduct a technical knowledge test to measure the delta for improvement.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EXCELLENCE PROGRAM</a:t>
            </a:r>
            <a:endParaRPr lang="en-US" sz="900" dirty="0"/>
          </a:p>
        </p:txBody>
      </p:sp>
      <p:sp>
        <p:nvSpPr>
          <p:cNvPr id="33" name="Freeform 62">
            <a:extLst>
              <a:ext uri="{FF2B5EF4-FFF2-40B4-BE49-F238E27FC236}">
                <a16:creationId xmlns:a16="http://schemas.microsoft.com/office/drawing/2014/main" id="{4E5A6C53-FF7E-AAE3-0E6B-38470B75E9A7}"/>
              </a:ext>
            </a:extLst>
          </p:cNvPr>
          <p:cNvSpPr/>
          <p:nvPr/>
        </p:nvSpPr>
        <p:spPr>
          <a:xfrm>
            <a:off x="9717541" y="257062"/>
            <a:ext cx="2032499" cy="871444"/>
          </a:xfrm>
          <a:custGeom>
            <a:avLst/>
            <a:gdLst/>
            <a:ahLst/>
            <a:cxnLst/>
            <a:rect l="l" t="t" r="r" b="b"/>
            <a:pathLst>
              <a:path w="2032499" h="871444">
                <a:moveTo>
                  <a:pt x="0" y="0"/>
                </a:moveTo>
                <a:lnTo>
                  <a:pt x="2032499" y="0"/>
                </a:lnTo>
                <a:lnTo>
                  <a:pt x="2032499" y="871444"/>
                </a:lnTo>
                <a:lnTo>
                  <a:pt x="0" y="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: THE PROGRAM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TRAINING DAY: 60% TECHNICAL, 40% SALES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day, max 30 associates per batch — split deliberately so product credibility and closing skill grow together.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20240"/>
          <a:ext cx="4846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920240"/>
            <a:ext cx="6035040" cy="196596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2148840"/>
            <a:ext cx="594360" cy="594360"/>
          </a:xfrm>
          <a:prstGeom prst="ellipse">
            <a:avLst/>
          </a:prstGeom>
          <a:solidFill>
            <a:srgbClr val="3E555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370" y="223205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· TECHNICAL MASTERY (4Cs)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62940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Cut, Color, Clarity, Carat · IGI grading &amp; certification literacy · Earth-mined vs. lab-grown identification · Jewelry settings.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23560" y="4069080"/>
            <a:ext cx="6035040" cy="196596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52160" y="4297680"/>
            <a:ext cx="594360" cy="59436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370" y="438089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· SALES &amp; ROLE-PLAY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62940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objection-handling drills · Consultative selling &amp; needs discovery · Cross-sell / upsell scripting · Closing techniques, peer-observed and scored.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EXCELLENCE PROGRAM</a:t>
            </a:r>
            <a:endParaRPr lang="en-US" sz="900" dirty="0"/>
          </a:p>
        </p:txBody>
      </p:sp>
      <p:sp>
        <p:nvSpPr>
          <p:cNvPr id="18" name="Freeform 62">
            <a:extLst>
              <a:ext uri="{FF2B5EF4-FFF2-40B4-BE49-F238E27FC236}">
                <a16:creationId xmlns:a16="http://schemas.microsoft.com/office/drawing/2014/main" id="{C34C9E0C-0B69-43AD-577D-A6E97DBA48DB}"/>
              </a:ext>
            </a:extLst>
          </p:cNvPr>
          <p:cNvSpPr/>
          <p:nvPr/>
        </p:nvSpPr>
        <p:spPr>
          <a:xfrm>
            <a:off x="9717541" y="257062"/>
            <a:ext cx="2032499" cy="871444"/>
          </a:xfrm>
          <a:custGeom>
            <a:avLst/>
            <a:gdLst/>
            <a:ahLst/>
            <a:cxnLst/>
            <a:rect l="l" t="t" r="r" b="b"/>
            <a:pathLst>
              <a:path w="2032499" h="871444">
                <a:moveTo>
                  <a:pt x="0" y="0"/>
                </a:moveTo>
                <a:lnTo>
                  <a:pt x="2032499" y="0"/>
                </a:lnTo>
                <a:lnTo>
                  <a:pt x="2032499" y="871444"/>
                </a:lnTo>
                <a:lnTo>
                  <a:pt x="0" y="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55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5603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5603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: VALUE CREATION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73152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3" y="87965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7955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+11.5%</a:t>
            </a:r>
            <a:endParaRPr lang="en-US" sz="9200" dirty="0"/>
          </a:p>
        </p:txBody>
      </p:sp>
      <p:sp>
        <p:nvSpPr>
          <p:cNvPr id="8" name="Text 5"/>
          <p:cNvSpPr/>
          <p:nvPr/>
        </p:nvSpPr>
        <p:spPr>
          <a:xfrm>
            <a:off x="5943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ROI INCREASE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4206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7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for a leading jewelry retail brand in the first full weekend cycle following program rollout.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28017" y="19888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 INDEX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452360" y="2286000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594360" y="5239512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store footprint, same footfall — the lift came entirely from floor execution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5605272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selected because they carry the highest walk-ins and highest-value baskets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5971032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study and methodology available on request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EXCELLENCE PROGRAM</a:t>
            </a:r>
            <a:endParaRPr lang="en-US" sz="900" dirty="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10897576-FF70-5894-72B8-4A4699D66228}"/>
              </a:ext>
            </a:extLst>
          </p:cNvPr>
          <p:cNvSpPr/>
          <p:nvPr/>
        </p:nvSpPr>
        <p:spPr>
          <a:xfrm>
            <a:off x="9889204" y="305557"/>
            <a:ext cx="2004381" cy="859388"/>
          </a:xfrm>
          <a:custGeom>
            <a:avLst/>
            <a:gdLst/>
            <a:ahLst/>
            <a:cxnLst/>
            <a:rect l="l" t="t" r="r" b="b"/>
            <a:pathLst>
              <a:path w="3250012" h="1393458">
                <a:moveTo>
                  <a:pt x="0" y="0"/>
                </a:moveTo>
                <a:lnTo>
                  <a:pt x="3250012" y="0"/>
                </a:lnTo>
                <a:lnTo>
                  <a:pt x="3250012" y="1393458"/>
                </a:lnTo>
                <a:lnTo>
                  <a:pt x="0" y="1393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560320" cy="292608"/>
          </a:xfrm>
          <a:prstGeom prst="rect">
            <a:avLst/>
          </a:prstGeom>
          <a:solidFill>
            <a:srgbClr val="DCE3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5603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: VALUE CREATION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 RETAILERS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are proven across retail — and the case study above shows them in a real jewelry floor.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06040" cy="233172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7" y="2146097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30815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PROFIT MARGINS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3410712"/>
            <a:ext cx="2203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 that actively measure training ROI vs. those that don't.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10712" y="1874520"/>
            <a:ext cx="2606040" cy="233172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20756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289" y="2146097"/>
            <a:ext cx="362102" cy="3621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pts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11880" y="30815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IMPROVEMENT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611880" y="3410712"/>
            <a:ext cx="2203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conversion-rate lift from targeted, role-specific sales training.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72784" y="1874520"/>
            <a:ext cx="2606040" cy="233172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3952" y="20756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361" y="2146097"/>
            <a:ext cx="362102" cy="362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3952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473952" y="30815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STAFF TURNOVER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473952" y="3410712"/>
            <a:ext cx="2203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training and coaching materially improve associate retention.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9134856" y="1874520"/>
            <a:ext cx="2606040" cy="2331720"/>
          </a:xfrm>
          <a:prstGeom prst="rect">
            <a:avLst/>
          </a:prstGeom>
          <a:solidFill>
            <a:srgbClr val="DCE3E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36024" y="20756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433" y="2146097"/>
            <a:ext cx="362102" cy="3621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36024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90-120 days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9336024" y="308152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CONFIRMED ROI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336024" y="3410712"/>
            <a:ext cx="2203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 in 30-60 days; full ROI confirms by 90-120 days.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48640" y="4434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" dirty="0">
                <a:solidFill>
                  <a:srgbClr val="3E5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90-DAY IMPACT ON A ₹2 CRORE / MONTH STORE (₹ LAKH)</a:t>
            </a:r>
            <a:endParaRPr lang="en-US" sz="10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48640" y="4709160"/>
          <a:ext cx="6400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2" name="Text 25"/>
          <p:cNvSpPr/>
          <p:nvPr/>
        </p:nvSpPr>
        <p:spPr>
          <a:xfrm>
            <a:off x="731520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 — actual figures replace these once your Diagnose-phase baseline is set.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6309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aggregated sales &amp; retail-training ROI industry research, 2026.</a:t>
            </a:r>
            <a:endParaRPr lang="en-US" sz="850" dirty="0"/>
          </a:p>
        </p:txBody>
      </p:sp>
      <p:sp>
        <p:nvSpPr>
          <p:cNvPr id="34" name="Freeform 62">
            <a:extLst>
              <a:ext uri="{FF2B5EF4-FFF2-40B4-BE49-F238E27FC236}">
                <a16:creationId xmlns:a16="http://schemas.microsoft.com/office/drawing/2014/main" id="{0A2A00A8-3DAE-6CD3-C007-3B59DD864B3E}"/>
              </a:ext>
            </a:extLst>
          </p:cNvPr>
          <p:cNvSpPr/>
          <p:nvPr/>
        </p:nvSpPr>
        <p:spPr>
          <a:xfrm>
            <a:off x="9717541" y="257062"/>
            <a:ext cx="2032499" cy="871444"/>
          </a:xfrm>
          <a:custGeom>
            <a:avLst/>
            <a:gdLst/>
            <a:ahLst/>
            <a:cxnLst/>
            <a:rect l="l" t="t" r="r" b="b"/>
            <a:pathLst>
              <a:path w="2032499" h="871444">
                <a:moveTo>
                  <a:pt x="0" y="0"/>
                </a:moveTo>
                <a:lnTo>
                  <a:pt x="2032499" y="0"/>
                </a:lnTo>
                <a:lnTo>
                  <a:pt x="2032499" y="871444"/>
                </a:lnTo>
                <a:lnTo>
                  <a:pt x="0" y="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757</Words>
  <Application>Microsoft Macintosh PowerPoint</Application>
  <PresentationFormat>Widescreen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Sunil Sharma</cp:lastModifiedBy>
  <cp:revision>3</cp:revision>
  <dcterms:created xsi:type="dcterms:W3CDTF">2026-08-11T09:19:58Z</dcterms:created>
  <dcterms:modified xsi:type="dcterms:W3CDTF">2026-08-11T09:28:21Z</dcterms:modified>
</cp:coreProperties>
</file>